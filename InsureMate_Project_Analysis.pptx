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InsureMate Project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764BA2"/>
                </a:solidFill>
              </a:defRPr>
            </a:pPr>
            <a:r>
              <a:t>Comprehensive Insurance Management System</a:t>
            </a:r>
          </a:p>
          <a:p>
            <a:r>
              <a:t>Technical Documentation</a:t>
            </a:r>
          </a:p>
          <a:p/>
          <a:p>
            <a:r>
              <a:t>Generated: February 10, 2026</a:t>
            </a:r>
          </a:p>
          <a:p>
            <a:r>
              <a:t>Author: Geetha Charu Mathi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Runtime &amp; Language: Node.js, TypeScript, ES2022</a:t>
            </a:r>
          </a:p>
          <a:p>
            <a:pPr>
              <a:spcAft>
                <a:spcPts val="600"/>
              </a:spcAft>
              <a:defRPr sz="1400"/>
            </a:pPr>
            <a:r>
              <a:t>Framework &amp; Core: NitroStack, @nitrostack/core, @nitrostack/cli</a:t>
            </a:r>
          </a:p>
          <a:p>
            <a:pPr>
              <a:spcAft>
                <a:spcPts val="600"/>
              </a:spcAft>
              <a:defRPr sz="1400"/>
            </a:pPr>
            <a:r>
              <a:t>Database: MongoDB (v7.1.0), Connection Pooling</a:t>
            </a:r>
          </a:p>
          <a:p>
            <a:pPr>
              <a:spcAft>
                <a:spcPts val="600"/>
              </a:spcAft>
              <a:defRPr sz="1400"/>
            </a:pPr>
            <a:r>
              <a:t>Validation &amp; Schema: Zod (v3.22.4), TypeScript Interfaces</a:t>
            </a:r>
          </a:p>
          <a:p>
            <a:pPr>
              <a:spcAft>
                <a:spcPts val="600"/>
              </a:spcAft>
              <a:defRPr sz="1400"/>
            </a:pPr>
            <a:r>
              <a:t>UI Framework: Next.js, React, TypeScript</a:t>
            </a:r>
          </a:p>
          <a:p>
            <a:pPr>
              <a:spcAft>
                <a:spcPts val="600"/>
              </a:spcAft>
              <a:defRPr sz="1400"/>
            </a:pPr>
            <a:r>
              <a:t>Utilities: dotenv, In-memory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5-Layer Architecture</a:t>
            </a:r>
          </a:p>
          <a:p>
            <a:pPr>
              <a:spcAft>
                <a:spcPts val="600"/>
              </a:spcAft>
              <a:defRPr sz="1400"/>
            </a:pPr>
            <a:r>
              <a:t>Presentation Layer: Next.js Widgets (React-based UI)</a:t>
            </a:r>
          </a:p>
          <a:p>
            <a:pPr>
              <a:spcAft>
                <a:spcPts val="600"/>
              </a:spcAft>
              <a:defRPr sz="1400"/>
            </a:pPr>
            <a:r>
              <a:t>Application Layer: NitroStack MCP Server</a:t>
            </a:r>
          </a:p>
          <a:p>
            <a:pPr>
              <a:spcAft>
                <a:spcPts val="600"/>
              </a:spcAft>
              <a:defRPr sz="1400"/>
            </a:pPr>
            <a:r>
              <a:t>Business Logic Layer: Services (Query, Scoring, Recommendation)</a:t>
            </a:r>
          </a:p>
          <a:p>
            <a:pPr>
              <a:spcAft>
                <a:spcPts val="600"/>
              </a:spcAft>
              <a:defRPr sz="1400"/>
            </a:pPr>
            <a:r>
              <a:t>Data Access Layer: MongoDBService with Connection Pooling</a:t>
            </a:r>
          </a:p>
          <a:p>
            <a:pPr>
              <a:spcAft>
                <a:spcPts val="600"/>
              </a:spcAft>
              <a:defRPr sz="1400"/>
            </a:pPr>
            <a:r>
              <a:t>Data Layer: MongoDB Database with Collections &amp; Indexes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Architecture - Presentation &amp; Application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Presentation Layer:</a:t>
            </a:r>
          </a:p>
          <a:p>
            <a:pPr>
              <a:spcAft>
                <a:spcPts val="600"/>
              </a:spcAft>
              <a:defRPr sz="1400"/>
            </a:pPr>
            <a:r>
              <a:t>• Next.js Widgets - React-based UI components</a:t>
            </a:r>
          </a:p>
          <a:p>
            <a:pPr>
              <a:spcAft>
                <a:spcPts val="600"/>
              </a:spcAft>
              <a:defRPr sz="1400"/>
            </a:pPr>
            <a:r>
              <a:t>• Widgets: insurance-list, insurance-suggestion, insurance-booking, booking-status-list</a:t>
            </a:r>
          </a:p>
          <a:p>
            <a:pPr>
              <a:spcAft>
                <a:spcPts val="600"/>
              </a:spcAft>
              <a:defRPr sz="1400"/>
            </a:pPr>
            <a:r>
              <a:t>• Hot module replacement for development</a:t>
            </a:r>
          </a:p>
          <a:p>
            <a:pPr>
              <a:spcAft>
                <a:spcPts val="600"/>
              </a:spcAft>
              <a:defRPr sz="1400"/>
            </a:pPr>
            <a:r>
              <a:t>Application Layer:</a:t>
            </a:r>
          </a:p>
          <a:p>
            <a:pPr>
              <a:spcAft>
                <a:spcPts val="600"/>
              </a:spcAft>
              <a:defRPr sz="1400"/>
            </a:pPr>
            <a:r>
              <a:t>• NitroStack MCP Server - Model Context Protocol server</a:t>
            </a:r>
          </a:p>
          <a:p>
            <a:pPr>
              <a:spcAft>
                <a:spcPts val="600"/>
              </a:spcAft>
              <a:defRPr sz="1400"/>
            </a:pPr>
            <a:r>
              <a:t>• Tools - Business logic endpoints</a:t>
            </a:r>
          </a:p>
          <a:p>
            <a:pPr>
              <a:spcAft>
                <a:spcPts val="600"/>
              </a:spcAft>
              <a:defRPr sz="1400"/>
            </a:pPr>
            <a:r>
              <a:t>• Resources - Data exposure endpoints</a:t>
            </a:r>
          </a:p>
          <a:p>
            <a:pPr>
              <a:spcAft>
                <a:spcPts val="600"/>
              </a:spcAft>
              <a:defRPr sz="1400"/>
            </a:pPr>
            <a:r>
              <a:t>• Prompts - Conversation templates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Architecture - Business Logic &amp; Data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Business Logic Layer:</a:t>
            </a:r>
          </a:p>
          <a:p>
            <a:pPr>
              <a:spcAft>
                <a:spcPts val="600"/>
              </a:spcAft>
              <a:defRPr sz="1400"/>
            </a:pPr>
            <a:r>
              <a:t>• InsuranceTools - Main tool controller</a:t>
            </a:r>
          </a:p>
          <a:p>
            <a:pPr>
              <a:spcAft>
                <a:spcPts val="600"/>
              </a:spcAft>
              <a:defRPr sz="1400"/>
            </a:pPr>
            <a:r>
              <a:t>• InsuranceQueryBuilderService - MongoDB query construction</a:t>
            </a:r>
          </a:p>
          <a:p>
            <a:pPr>
              <a:spcAft>
                <a:spcPts val="600"/>
              </a:spcAft>
              <a:defRPr sz="1400"/>
            </a:pPr>
            <a:r>
              <a:t>• InsuranceScoringService - Plan matching algorithm</a:t>
            </a:r>
          </a:p>
          <a:p>
            <a:pPr>
              <a:spcAft>
                <a:spcPts val="600"/>
              </a:spcAft>
              <a:defRPr sz="1400"/>
            </a:pPr>
            <a:r>
              <a:t>• InsuranceRecommendationService - Recommendation generation</a:t>
            </a:r>
          </a:p>
          <a:p>
            <a:pPr>
              <a:spcAft>
                <a:spcPts val="600"/>
              </a:spcAft>
              <a:defRPr sz="1400"/>
            </a:pPr>
            <a:r>
              <a:t>• CacheService - In-memory caching</a:t>
            </a:r>
          </a:p>
          <a:p>
            <a:pPr>
              <a:spcAft>
                <a:spcPts val="600"/>
              </a:spcAft>
              <a:defRPr sz="1400"/>
            </a:pPr>
            <a:r>
              <a:t>• MetricsService - Performance monitoring</a:t>
            </a:r>
          </a:p>
          <a:p>
            <a:pPr>
              <a:spcAft>
                <a:spcPts val="600"/>
              </a:spcAft>
              <a:defRPr sz="1400"/>
            </a:pPr>
            <a:r>
              <a:t>Data Access Layer:</a:t>
            </a:r>
          </a:p>
          <a:p>
            <a:pPr>
              <a:spcAft>
                <a:spcPts val="600"/>
              </a:spcAft>
              <a:defRPr sz="1400"/>
            </a:pPr>
            <a:r>
              <a:t>• MongoDBService - Database connection management</a:t>
            </a:r>
          </a:p>
          <a:p>
            <a:pPr>
              <a:spcAft>
                <a:spcPts val="600"/>
              </a:spcAft>
              <a:defRPr sz="1400"/>
            </a:pPr>
            <a:r>
              <a:t>• Connection Pooling - Efficient connection reuse (min: 2, max: 10)</a:t>
            </a:r>
          </a:p>
          <a:p>
            <a:pPr>
              <a:spcAft>
                <a:spcPts val="600"/>
              </a:spcAft>
              <a:defRPr sz="1400"/>
            </a:pPr>
            <a:r>
              <a:t>• Index Management - Automatic index creation</a:t>
            </a:r>
          </a:p>
          <a:p>
            <a:pPr>
              <a:spcAft>
                <a:spcPts val="600"/>
              </a:spcAft>
              <a:defRPr sz="1400"/>
            </a:pPr>
            <a:r>
              <a:t>• Retry Logic - Automatic reconnection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MongoDB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Three Main Collections:</a:t>
            </a:r>
          </a:p>
          <a:p>
            <a:pPr>
              <a:spcAft>
                <a:spcPts val="600"/>
              </a:spcAft>
              <a:defRPr sz="1400"/>
            </a:pPr>
            <a:r>
              <a:t>1. Insurance Collection (Primary)</a:t>
            </a:r>
          </a:p>
          <a:p>
            <a:pPr>
              <a:spcAft>
                <a:spcPts val="600"/>
              </a:spcAft>
              <a:defRPr sz="1400"/>
            </a:pPr>
            <a:r>
              <a:t>2. Users Collection (Secondary)</a:t>
            </a:r>
          </a:p>
          <a:p>
            <a:pPr>
              <a:spcAft>
                <a:spcPts val="600"/>
              </a:spcAft>
              <a:defRPr sz="1400"/>
            </a:pPr>
            <a:r>
              <a:t>3. Bookings Collection (Secondary)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Insurance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Insurance Collection:</a:t>
            </a:r>
          </a:p>
          <a:p>
            <a:pPr>
              <a:spcAft>
                <a:spcPts val="600"/>
              </a:spcAft>
              <a:defRPr sz="1400"/>
            </a:pPr>
            <a:r>
              <a:t>• Stores all insurance plan information</a:t>
            </a:r>
          </a:p>
          <a:p>
            <a:pPr>
              <a:spcAft>
                <a:spcPts val="600"/>
              </a:spcAft>
              <a:defRPr sz="1400"/>
            </a:pPr>
            <a:r>
              <a:t>• Key Fields: name, type, premium, coverage, policyNumber</a:t>
            </a:r>
          </a:p>
          <a:p>
            <a:pPr>
              <a:spcAft>
                <a:spcPts val="600"/>
              </a:spcAft>
              <a:defRPr sz="1400"/>
            </a:pPr>
            <a:r>
              <a:t>• Age Range: minAge, maxAge</a:t>
            </a:r>
          </a:p>
          <a:p>
            <a:pPr>
              <a:spcAft>
                <a:spcPts val="600"/>
              </a:spcAft>
              <a:defRPr sz="1400"/>
            </a:pPr>
            <a:r>
              <a:t>• Family: familyCoverage, maxFamilyMembers</a:t>
            </a:r>
          </a:p>
          <a:p>
            <a:pPr>
              <a:spcAft>
                <a:spcPts val="600"/>
              </a:spcAft>
              <a:defRPr sz="1400"/>
            </a:pPr>
            <a:r>
              <a:t>• Conditions: coversPreExisting, coveredConditions</a:t>
            </a:r>
          </a:p>
          <a:p>
            <a:pPr>
              <a:spcAft>
                <a:spcPts val="600"/>
              </a:spcAft>
              <a:defRPr sz="1400"/>
            </a:pPr>
            <a:r>
              <a:t>• Provider &amp; Description</a:t>
            </a:r>
          </a:p>
          <a:p>
            <a:pPr>
              <a:spcAft>
                <a:spcPts val="600"/>
              </a:spcAft>
              <a:defRPr sz="1400"/>
            </a:pPr>
            <a:r>
              <a:t>Indexes:</a:t>
            </a:r>
          </a:p>
          <a:p>
            <a:pPr>
              <a:spcAft>
                <a:spcPts val="600"/>
              </a:spcAft>
              <a:defRPr sz="1400"/>
            </a:pPr>
            <a:r>
              <a:t>• Text index on name for search</a:t>
            </a:r>
          </a:p>
          <a:p>
            <a:pPr>
              <a:spcAft>
                <a:spcPts val="600"/>
              </a:spcAft>
              <a:defRPr sz="1400"/>
            </a:pPr>
            <a:r>
              <a:t>• Indexes on premium, age ranges, family coverage</a:t>
            </a:r>
          </a:p>
          <a:p>
            <a:pPr>
              <a:spcAft>
                <a:spcPts val="600"/>
              </a:spcAft>
              <a:defRPr sz="1400"/>
            </a:pPr>
            <a:r>
              <a:t>• Unique sparse index on policyNumber</a:t>
            </a:r>
          </a:p>
          <a:p>
            <a:pPr>
              <a:spcAft>
                <a:spcPts val="600"/>
              </a:spcAft>
              <a:defRPr sz="1400"/>
            </a:pPr>
            <a:r>
              <a:t>• Compound indexes for common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Users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Users Collection:</a:t>
            </a:r>
          </a:p>
          <a:p>
            <a:pPr>
              <a:spcAft>
                <a:spcPts val="600"/>
              </a:spcAft>
              <a:defRPr sz="1400"/>
            </a:pPr>
            <a:r>
              <a:t>• Stores user account information</a:t>
            </a:r>
          </a:p>
          <a:p>
            <a:pPr>
              <a:spcAft>
                <a:spcPts val="600"/>
              </a:spcAft>
              <a:defRPr sz="1400"/>
            </a:pPr>
            <a:r>
              <a:t>• Key Fields: email (unique), name, phone, age, salary</a:t>
            </a:r>
          </a:p>
          <a:p>
            <a:pPr>
              <a:spcAft>
                <a:spcPts val="600"/>
              </a:spcAft>
              <a:defRPr sz="1400"/>
            </a:pPr>
            <a:r>
              <a:t>• Additional: designation, address, familyMembers</a:t>
            </a:r>
          </a:p>
          <a:p>
            <a:pPr>
              <a:spcAft>
                <a:spcPts val="600"/>
              </a:spcAft>
              <a:defRPr sz="1400"/>
            </a:pPr>
            <a:r>
              <a:t>• Timestamps: createdAt, updatedAt</a:t>
            </a:r>
          </a:p>
          <a:p>
            <a:pPr>
              <a:spcAft>
                <a:spcPts val="600"/>
              </a:spcAft>
              <a:defRPr sz="1400"/>
            </a:pPr>
            <a:r>
              <a:t>Indexes:</a:t>
            </a:r>
          </a:p>
          <a:p>
            <a:pPr>
              <a:spcAft>
                <a:spcPts val="600"/>
              </a:spcAft>
              <a:defRPr sz="1400"/>
            </a:pPr>
            <a:r>
              <a:t>• Unique index on email (primary key)</a:t>
            </a:r>
          </a:p>
          <a:p>
            <a:pPr>
              <a:spcAft>
                <a:spcPts val="600"/>
              </a:spcAft>
              <a:defRPr sz="1400"/>
            </a:pPr>
            <a:r>
              <a:t>• Text index on name for search</a:t>
            </a:r>
          </a:p>
          <a:p>
            <a:pPr>
              <a:spcAft>
                <a:spcPts val="600"/>
              </a:spcAft>
              <a:defRPr sz="1400"/>
            </a:pPr>
            <a:r>
              <a:t>• Indexes on age, salary, designation</a:t>
            </a:r>
          </a:p>
          <a:p>
            <a:pPr>
              <a:spcAft>
                <a:spcPts val="600"/>
              </a:spcAft>
              <a:defRPr sz="1400"/>
            </a:pPr>
            <a:r>
              <a:t>• Sparse unique index on phone</a:t>
            </a:r>
          </a:p>
          <a:p>
            <a:pPr>
              <a:spcAft>
                <a:spcPts val="600"/>
              </a:spcAft>
              <a:defRPr sz="1400"/>
            </a:pPr>
            <a:r>
              <a:t>• Index on createdAt for sorting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Bookings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Bookings Collection:</a:t>
            </a:r>
          </a:p>
          <a:p>
            <a:pPr>
              <a:spcAft>
                <a:spcPts val="600"/>
              </a:spcAft>
              <a:defRPr sz="1400"/>
            </a:pPr>
            <a:r>
              <a:t>• Stores insurance booking records</a:t>
            </a:r>
          </a:p>
          <a:p>
            <a:pPr>
              <a:spcAft>
                <a:spcPts val="600"/>
              </a:spcAft>
              <a:defRPr sz="1400"/>
            </a:pPr>
            <a:r>
              <a:t>• References: userId, insurancePlanId, policyNumber</a:t>
            </a:r>
          </a:p>
          <a:p>
            <a:pPr>
              <a:spcAft>
                <a:spcPts val="600"/>
              </a:spcAft>
              <a:defRPr sz="1400"/>
            </a:pPr>
            <a:r>
              <a:t>• Status: status (pending/confirmed/cancelled/expired/active)</a:t>
            </a:r>
          </a:p>
          <a:p>
            <a:pPr>
              <a:spcAft>
                <a:spcPts val="600"/>
              </a:spcAft>
              <a:defRPr sz="1400"/>
            </a:pPr>
            <a:r>
              <a:t>• Financial: premium, coverageAmount</a:t>
            </a:r>
          </a:p>
          <a:p>
            <a:pPr>
              <a:spcAft>
                <a:spcPts val="600"/>
              </a:spcAft>
              <a:defRPr sz="1400"/>
            </a:pPr>
            <a:r>
              <a:t>• Dates: startDate, endDate</a:t>
            </a:r>
          </a:p>
          <a:p>
            <a:pPr>
              <a:spcAft>
                <a:spcPts val="600"/>
              </a:spcAft>
              <a:defRPr sz="1400"/>
            </a:pPr>
            <a:r>
              <a:t>• Payment: paymentStatus, paymentMethod, transactionId</a:t>
            </a:r>
          </a:p>
          <a:p>
            <a:pPr>
              <a:spcAft>
                <a:spcPts val="600"/>
              </a:spcAft>
              <a:defRPr sz="1400"/>
            </a:pPr>
            <a:r>
              <a:t>• Additional: notes, createdAt, updatedAt</a:t>
            </a:r>
          </a:p>
          <a:p>
            <a:pPr>
              <a:spcAft>
                <a:spcPts val="600"/>
              </a:spcAft>
              <a:defRPr sz="1400"/>
            </a:pPr>
            <a:r>
              <a:t>Indexes:</a:t>
            </a:r>
          </a:p>
          <a:p>
            <a:pPr>
              <a:spcAft>
                <a:spcPts val="600"/>
              </a:spcAft>
              <a:defRPr sz="1400"/>
            </a:pPr>
            <a:r>
              <a:t>• Index on userId (most common query)</a:t>
            </a:r>
          </a:p>
          <a:p>
            <a:pPr>
              <a:spcAft>
                <a:spcPts val="600"/>
              </a:spcAft>
              <a:defRPr sz="1400"/>
            </a:pPr>
            <a:r>
              <a:t>• Indexes on insurancePlanId, status, paymentStatus</a:t>
            </a:r>
          </a:p>
          <a:p>
            <a:pPr>
              <a:spcAft>
                <a:spcPts val="600"/>
              </a:spcAft>
              <a:defRPr sz="1400"/>
            </a:pPr>
            <a:r>
              <a:t>• Compound indexes for user bookings by status</a:t>
            </a:r>
          </a:p>
          <a:p>
            <a:pPr>
              <a:spcAft>
                <a:spcPts val="600"/>
              </a:spcAft>
              <a:defRPr sz="1400"/>
            </a:pPr>
            <a:r>
              <a:t>• Date range indexes for queries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Tools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Four Main Tools:</a:t>
            </a:r>
          </a:p>
          <a:p>
            <a:pPr>
              <a:spcAft>
                <a:spcPts val="600"/>
              </a:spcAft>
              <a:defRPr sz="1400"/>
            </a:pPr>
            <a:r>
              <a:t>1. list_insurance - Query Tool</a:t>
            </a:r>
          </a:p>
          <a:p>
            <a:pPr>
              <a:spcAft>
                <a:spcPts val="600"/>
              </a:spcAft>
              <a:defRPr sz="1400"/>
            </a:pPr>
            <a:r>
              <a:t>2. suggest_insurance_plan - AI Tool</a:t>
            </a:r>
          </a:p>
          <a:p>
            <a:pPr>
              <a:spcAft>
                <a:spcPts val="600"/>
              </a:spcAft>
              <a:defRPr sz="1400"/>
            </a:pPr>
            <a:r>
              <a:t>3. book_insurance_with_user - Transaction Tool</a:t>
            </a:r>
          </a:p>
          <a:p>
            <a:pPr>
              <a:spcAft>
                <a:spcPts val="600"/>
              </a:spcAft>
              <a:defRPr sz="1400"/>
            </a:pPr>
            <a:r>
              <a:t>4. list_booking_status_by_email - Query Tool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Tool: list_insurance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list_insurance Tool:</a:t>
            </a:r>
          </a:p>
          <a:p>
            <a:pPr>
              <a:spcAft>
                <a:spcPts val="600"/>
              </a:spcAft>
              <a:defRPr sz="1400"/>
            </a:pPr>
            <a:r>
              <a:t>Purpose: List and filter insurance plans</a:t>
            </a:r>
          </a:p>
          <a:p>
            <a:pPr>
              <a:spcAft>
                <a:spcPts val="600"/>
              </a:spcAft>
              <a:defRPr sz="1400"/>
            </a:pPr>
            <a:r>
              <a:t>Widget: insurance-list</a:t>
            </a:r>
          </a:p>
          <a:p>
            <a:pPr>
              <a:spcAft>
                <a:spcPts val="600"/>
              </a:spcAft>
              <a:defRPr sz="1400"/>
            </a:pPr>
            <a:r>
              <a:t>Input Parameters:</a:t>
            </a:r>
          </a:p>
          <a:p>
            <a:pPr>
              <a:spcAft>
                <a:spcPts val="600"/>
              </a:spcAft>
              <a:defRPr sz="1400"/>
            </a:pPr>
            <a:r>
              <a:t>• salary (Required) - Annual salary for affordability</a:t>
            </a:r>
          </a:p>
          <a:p>
            <a:pPr>
              <a:spcAft>
                <a:spcPts val="600"/>
              </a:spcAft>
              <a:defRPr sz="1400"/>
            </a:pPr>
            <a:r>
              <a:t>• familyMembers (Optional) - Number of family members</a:t>
            </a:r>
          </a:p>
          <a:p>
            <a:pPr>
              <a:spcAft>
                <a:spcPts val="600"/>
              </a:spcAft>
              <a:defRPr sz="1400"/>
            </a:pPr>
            <a:r>
              <a:t>• age (Optional, 0-120) - User age for age range matching</a:t>
            </a:r>
          </a:p>
          <a:p>
            <a:pPr>
              <a:spcAft>
                <a:spcPts val="600"/>
              </a:spcAft>
              <a:defRPr sz="1400"/>
            </a:pPr>
            <a:r>
              <a:t>• limit (Optional, default: 100) - Max records</a:t>
            </a:r>
          </a:p>
          <a:p>
            <a:pPr>
              <a:spcAft>
                <a:spcPts val="600"/>
              </a:spcAft>
              <a:defRPr sz="1400"/>
            </a:pPr>
            <a:r>
              <a:t>• skip (Optional, default: 0) - Pagination</a:t>
            </a:r>
          </a:p>
          <a:p>
            <a:pPr>
              <a:spcAft>
                <a:spcPts val="600"/>
              </a:spcAft>
              <a:defRPr sz="1400"/>
            </a:pPr>
            <a:r>
              <a:t>• filter (Optional) - Additional MongoDB filter</a:t>
            </a:r>
          </a:p>
          <a:p>
            <a:pPr>
              <a:spcAft>
                <a:spcPts val="600"/>
              </a:spcAft>
              <a:defRPr sz="1400"/>
            </a:pPr>
            <a:r>
              <a:t>Filtering Logic:</a:t>
            </a:r>
          </a:p>
          <a:p>
            <a:pPr>
              <a:spcAft>
                <a:spcPts val="600"/>
              </a:spcAft>
              <a:defRPr sz="1400"/>
            </a:pPr>
            <a:r>
              <a:t>• Premium ≤ 10% of annual salary</a:t>
            </a:r>
          </a:p>
          <a:p>
            <a:pPr>
              <a:spcAft>
                <a:spcPts val="600"/>
              </a:spcAft>
              <a:defRPr sz="1400"/>
            </a:pPr>
            <a:r>
              <a:t>• Family coverage matching</a:t>
            </a:r>
          </a:p>
          <a:p>
            <a:pPr>
              <a:spcAft>
                <a:spcPts val="600"/>
              </a:spcAft>
              <a:defRPr sz="1400"/>
            </a:pPr>
            <a:r>
              <a:t>• Age range validation</a:t>
            </a:r>
          </a:p>
          <a:p>
            <a:pPr>
              <a:spcAft>
                <a:spcPts val="600"/>
              </a:spcAft>
              <a:defRPr sz="1400"/>
            </a:pPr>
            <a:r>
              <a:t>• Custom MongoDB operators supported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Tool: suggest_insurance_plan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suggest_insurance_plan Tool:</a:t>
            </a:r>
          </a:p>
          <a:p>
            <a:pPr>
              <a:spcAft>
                <a:spcPts val="600"/>
              </a:spcAft>
              <a:defRPr sz="1400"/>
            </a:pPr>
            <a:r>
              <a:t>Purpose: AI-powered insurance plan suggestions with match scoring</a:t>
            </a:r>
          </a:p>
          <a:p>
            <a:pPr>
              <a:spcAft>
                <a:spcPts val="600"/>
              </a:spcAft>
              <a:defRPr sz="1400"/>
            </a:pPr>
            <a:r>
              <a:t>Widget: insurance-suggestion</a:t>
            </a:r>
          </a:p>
          <a:p>
            <a:pPr>
              <a:spcAft>
                <a:spcPts val="600"/>
              </a:spcAft>
              <a:defRPr sz="1400"/>
            </a:pPr>
            <a:r>
              <a:t>Input Parameters:</a:t>
            </a:r>
          </a:p>
          <a:p>
            <a:pPr>
              <a:spcAft>
                <a:spcPts val="600"/>
              </a:spcAft>
              <a:defRPr sz="1400"/>
            </a:pPr>
            <a:r>
              <a:t>• age (Required, 0-120) - User age</a:t>
            </a:r>
          </a:p>
          <a:p>
            <a:pPr>
              <a:spcAft>
                <a:spcPts val="600"/>
              </a:spcAft>
              <a:defRPr sz="1400"/>
            </a:pPr>
            <a:r>
              <a:t>• salary (Required) - Annual salary</a:t>
            </a:r>
          </a:p>
          <a:p>
            <a:pPr>
              <a:spcAft>
                <a:spcPts val="600"/>
              </a:spcAft>
              <a:defRPr sz="1400"/>
            </a:pPr>
            <a:r>
              <a:t>• familyMembers (Required) - Number of family members</a:t>
            </a:r>
          </a:p>
          <a:p>
            <a:pPr>
              <a:spcAft>
                <a:spcPts val="600"/>
              </a:spcAft>
              <a:defRPr sz="1400"/>
            </a:pPr>
            <a:r>
              <a:t>• deficiencies (Optional) - Health deficiencies/pre-existing conditions</a:t>
            </a:r>
          </a:p>
          <a:p>
            <a:pPr>
              <a:spcAft>
                <a:spcPts val="600"/>
              </a:spcAft>
              <a:defRPr sz="1400"/>
            </a:pPr>
            <a:r>
              <a:t>• insuranceType (Optional) - Filter by type</a:t>
            </a:r>
          </a:p>
          <a:p>
            <a:pPr>
              <a:spcAft>
                <a:spcPts val="600"/>
              </a:spcAft>
              <a:defRPr sz="1400"/>
            </a:pPr>
            <a:r>
              <a:t>Scoring Algorithm (0-100 points):</a:t>
            </a:r>
          </a:p>
          <a:p>
            <a:pPr>
              <a:spcAft>
                <a:spcPts val="600"/>
              </a:spcAft>
              <a:defRPr sz="1400"/>
            </a:pPr>
            <a:r>
              <a:t>• Age Match: 30 points</a:t>
            </a:r>
          </a:p>
          <a:p>
            <a:pPr>
              <a:spcAft>
                <a:spcPts val="600"/>
              </a:spcAft>
              <a:defRPr sz="1400"/>
            </a:pPr>
            <a:r>
              <a:t>• Premium Affordability: 25 points</a:t>
            </a:r>
          </a:p>
          <a:p>
            <a:pPr>
              <a:spcAft>
                <a:spcPts val="600"/>
              </a:spcAft>
              <a:defRPr sz="1400"/>
            </a:pPr>
            <a:r>
              <a:t>• Family Coverage: 20 points</a:t>
            </a:r>
          </a:p>
          <a:p>
            <a:pPr>
              <a:spcAft>
                <a:spcPts val="600"/>
              </a:spcAft>
              <a:defRPr sz="1400"/>
            </a:pPr>
            <a:r>
              <a:t>• Pre-existing Conditions: 25 points</a:t>
            </a:r>
          </a:p>
          <a:p>
            <a:pPr>
              <a:spcAft>
                <a:spcPts val="600"/>
              </a:spcAft>
              <a:defRPr sz="1400"/>
            </a:pPr>
            <a:r>
              <a:t>• Specific Conditions: 15 points</a:t>
            </a:r>
          </a:p>
          <a:p>
            <a:pPr>
              <a:spcAft>
                <a:spcPts val="600"/>
              </a:spcAft>
              <a:defRPr sz="1400"/>
            </a:pPr>
            <a:r>
              <a:t>• Type Match: 10 points</a:t>
            </a:r>
          </a:p>
          <a:p>
            <a:pPr>
              <a:spcAft>
                <a:spcPts val="600"/>
              </a:spcAft>
              <a:defRPr sz="1400"/>
            </a:pPr>
            <a:r>
              <a:t>Returns: Top 5 plans sorted by match score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Tool: book_insurance_with_user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book_insurance_with_user Tool:</a:t>
            </a:r>
          </a:p>
          <a:p>
            <a:pPr>
              <a:spcAft>
                <a:spcPts val="600"/>
              </a:spcAft>
              <a:defRPr sz="1400"/>
            </a:pPr>
            <a:r>
              <a:t>Purpose: Create booking record and manage user account</a:t>
            </a:r>
          </a:p>
          <a:p>
            <a:pPr>
              <a:spcAft>
                <a:spcPts val="600"/>
              </a:spcAft>
              <a:defRPr sz="1400"/>
            </a:pPr>
            <a:r>
              <a:t>Widget: insurance-booking</a:t>
            </a:r>
          </a:p>
          <a:p>
            <a:pPr>
              <a:spcAft>
                <a:spcPts val="600"/>
              </a:spcAft>
              <a:defRPr sz="1400"/>
            </a:pPr>
            <a:r>
              <a:t>Input Parameters:</a:t>
            </a:r>
          </a:p>
          <a:p>
            <a:pPr>
              <a:spcAft>
                <a:spcPts val="600"/>
              </a:spcAft>
              <a:defRPr sz="1400"/>
            </a:pPr>
            <a:r>
              <a:t>• policyNumber (Required) - Insurance policy number</a:t>
            </a:r>
          </a:p>
          <a:p>
            <a:pPr>
              <a:spcAft>
                <a:spcPts val="600"/>
              </a:spcAft>
              <a:defRPr sz="1400"/>
            </a:pPr>
            <a:r>
              <a:t>• email (Required) - User email (validated)</a:t>
            </a:r>
          </a:p>
          <a:p>
            <a:pPr>
              <a:spcAft>
                <a:spcPts val="600"/>
              </a:spcAft>
              <a:defRPr sz="1400"/>
            </a:pPr>
            <a:r>
              <a:t>• name (Required) - User full name</a:t>
            </a:r>
          </a:p>
          <a:p>
            <a:pPr>
              <a:spcAft>
                <a:spcPts val="600"/>
              </a:spcAft>
              <a:defRPr sz="1400"/>
            </a:pPr>
            <a:r>
              <a:t>• phoneNumber (Required) - User phone number</a:t>
            </a:r>
          </a:p>
          <a:p>
            <a:pPr>
              <a:spcAft>
                <a:spcPts val="600"/>
              </a:spcAft>
              <a:defRPr sz="1400"/>
            </a:pPr>
            <a:r>
              <a:t>• paymentMethod (Optional) - Payment method</a:t>
            </a:r>
          </a:p>
          <a:p>
            <a:pPr>
              <a:spcAft>
                <a:spcPts val="600"/>
              </a:spcAft>
              <a:defRPr sz="1400"/>
            </a:pPr>
            <a:r>
              <a:t>• startDate (Optional) - ISO 8601 format</a:t>
            </a:r>
          </a:p>
          <a:p>
            <a:pPr>
              <a:spcAft>
                <a:spcPts val="600"/>
              </a:spcAft>
              <a:defRPr sz="1400"/>
            </a:pPr>
            <a:r>
              <a:t>• years (Optional, 1-50) - Coverage duration</a:t>
            </a:r>
          </a:p>
          <a:p>
            <a:pPr>
              <a:spcAft>
                <a:spcPts val="600"/>
              </a:spcAft>
              <a:defRPr sz="1400"/>
            </a:pPr>
            <a:r>
              <a:t>• transactionId (Optional) - Payment transaction ID</a:t>
            </a:r>
          </a:p>
          <a:p>
            <a:pPr>
              <a:spcAft>
                <a:spcPts val="600"/>
              </a:spcAft>
              <a:defRPr sz="1400"/>
            </a:pPr>
            <a:r>
              <a:t>• notes (Optional) - Additional notes</a:t>
            </a:r>
          </a:p>
          <a:p>
            <a:pPr>
              <a:spcAft>
                <a:spcPts val="600"/>
              </a:spcAft>
              <a:defRPr sz="1400"/>
            </a:pPr>
            <a:r>
              <a:t>Business Logic:</a:t>
            </a:r>
          </a:p>
          <a:p>
            <a:pPr>
              <a:spcAft>
                <a:spcPts val="600"/>
              </a:spcAft>
              <a:defRPr sz="1400"/>
            </a:pPr>
            <a:r>
              <a:t>• Validates insurance plan exists</a:t>
            </a:r>
          </a:p>
          <a:p>
            <a:pPr>
              <a:spcAft>
                <a:spcPts val="600"/>
              </a:spcAft>
              <a:defRPr sz="1400"/>
            </a:pPr>
            <a:r>
              <a:t>• Creates/updates user account</a:t>
            </a:r>
          </a:p>
          <a:p>
            <a:pPr>
              <a:spcAft>
                <a:spcPts val="600"/>
              </a:spcAft>
              <a:defRPr sz="1400"/>
            </a:pPr>
            <a:r>
              <a:t>• Creates booking with status='pending'</a:t>
            </a:r>
          </a:p>
          <a:p>
            <a:pPr>
              <a:spcAft>
                <a:spcPts val="600"/>
              </a:spcAft>
              <a:defRPr sz="1400"/>
            </a:pPr>
            <a:r>
              <a:t>• Sets payment status based on transactionId</a:t>
            </a:r>
          </a:p>
          <a:p>
            <a:pPr>
              <a:spcAft>
                <a:spcPts val="600"/>
              </a:spcAft>
              <a:defRPr sz="1400"/>
            </a:pPr>
            <a:r>
              <a:t>• Calculates endDate from startDate + years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Tool: list_booking_status_by_email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list_booking_status_by_email Tool:</a:t>
            </a:r>
          </a:p>
          <a:p>
            <a:pPr>
              <a:spcAft>
                <a:spcPts val="600"/>
              </a:spcAft>
              <a:defRPr sz="1400"/>
            </a:pPr>
            <a:r>
              <a:t>Purpose: Retrieve all bookings for a user by email</a:t>
            </a:r>
          </a:p>
          <a:p>
            <a:pPr>
              <a:spcAft>
                <a:spcPts val="600"/>
              </a:spcAft>
              <a:defRPr sz="1400"/>
            </a:pPr>
            <a:r>
              <a:t>Widget: booking-status-list</a:t>
            </a:r>
          </a:p>
          <a:p>
            <a:pPr>
              <a:spcAft>
                <a:spcPts val="600"/>
              </a:spcAft>
              <a:defRPr sz="1400"/>
            </a:pPr>
            <a:r>
              <a:t>Input Parameters:</a:t>
            </a:r>
          </a:p>
          <a:p>
            <a:pPr>
              <a:spcAft>
                <a:spcPts val="600"/>
              </a:spcAft>
              <a:defRPr sz="1400"/>
            </a:pPr>
            <a:r>
              <a:t>• email (Required) - User email address</a:t>
            </a:r>
          </a:p>
          <a:p>
            <a:pPr>
              <a:spcAft>
                <a:spcPts val="600"/>
              </a:spcAft>
              <a:defRPr sz="1400"/>
            </a:pPr>
            <a:r>
              <a:t>Business Logic:</a:t>
            </a:r>
          </a:p>
          <a:p>
            <a:pPr>
              <a:spcAft>
                <a:spcPts val="600"/>
              </a:spcAft>
              <a:defRPr sz="1400"/>
            </a:pPr>
            <a:r>
              <a:t>• Validates email format</a:t>
            </a:r>
          </a:p>
          <a:p>
            <a:pPr>
              <a:spcAft>
                <a:spcPts val="600"/>
              </a:spcAft>
              <a:defRPr sz="1400"/>
            </a:pPr>
            <a:r>
              <a:t>• Finds user by email (returns error if not found)</a:t>
            </a:r>
          </a:p>
          <a:p>
            <a:pPr>
              <a:spcAft>
                <a:spcPts val="600"/>
              </a:spcAft>
              <a:defRPr sz="1400"/>
            </a:pPr>
            <a:r>
              <a:t>• Retrieves all bookings for the user</a:t>
            </a:r>
          </a:p>
          <a:p>
            <a:pPr>
              <a:spcAft>
                <a:spcPts val="600"/>
              </a:spcAft>
              <a:defRPr sz="1400"/>
            </a:pPr>
            <a:r>
              <a:t>• Sorts by createdAt descending (most recent first)</a:t>
            </a:r>
          </a:p>
          <a:p>
            <a:pPr>
              <a:spcAft>
                <a:spcPts val="600"/>
              </a:spcAft>
              <a:defRPr sz="1400"/>
            </a:pPr>
            <a:r>
              <a:t>Response:</a:t>
            </a:r>
          </a:p>
          <a:p>
            <a:pPr>
              <a:spcAft>
                <a:spcPts val="600"/>
              </a:spcAft>
              <a:defRPr sz="1400"/>
            </a:pPr>
            <a:r>
              <a:t>• success - Boolean</a:t>
            </a:r>
          </a:p>
          <a:p>
            <a:pPr>
              <a:spcAft>
                <a:spcPts val="600"/>
              </a:spcAft>
              <a:defRPr sz="1400"/>
            </a:pPr>
            <a:r>
              <a:t>• user - User document</a:t>
            </a:r>
          </a:p>
          <a:p>
            <a:pPr>
              <a:spcAft>
                <a:spcPts val="600"/>
              </a:spcAft>
              <a:defRPr sz="1400"/>
            </a:pPr>
            <a:r>
              <a:t>• bookings - Array of all booking documents</a:t>
            </a:r>
          </a:p>
          <a:p>
            <a:pPr>
              <a:spcAft>
                <a:spcPts val="600"/>
              </a:spcAft>
              <a:defRPr sz="1400"/>
            </a:pPr>
            <a:r>
              <a:t>• count - Total number of bookings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MongoDB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MongoDB Query Optimization:</a:t>
            </a:r>
          </a:p>
          <a:p>
            <a:pPr>
              <a:spcAft>
                <a:spcPts val="600"/>
              </a:spcAft>
              <a:defRPr sz="1400"/>
            </a:pPr>
            <a:r>
              <a:t>• InsuranceQueryBuilderService constructs optimized queries</a:t>
            </a:r>
          </a:p>
          <a:p>
            <a:pPr>
              <a:spcAft>
                <a:spcPts val="600"/>
              </a:spcAft>
              <a:defRPr sz="1400"/>
            </a:pPr>
            <a:r>
              <a:t>• All queries leverage database indexes</a:t>
            </a:r>
          </a:p>
          <a:p>
            <a:pPr>
              <a:spcAft>
                <a:spcPts val="600"/>
              </a:spcAft>
              <a:defRPr sz="1400"/>
            </a:pPr>
            <a:r>
              <a:t>• Filters applied at database level</a:t>
            </a:r>
          </a:p>
          <a:p>
            <a:pPr>
              <a:spcAft>
                <a:spcPts val="600"/>
              </a:spcAft>
              <a:defRPr sz="1400"/>
            </a:pPr>
            <a:r>
              <a:t>• Pagination with skip/limit</a:t>
            </a:r>
          </a:p>
          <a:p>
            <a:pPr>
              <a:spcAft>
                <a:spcPts val="600"/>
              </a:spcAft>
              <a:defRPr sz="1400"/>
            </a:pPr>
            <a:r>
              <a:t>• Projection for necessary fields only</a:t>
            </a:r>
          </a:p>
          <a:p>
            <a:pPr>
              <a:spcAft>
                <a:spcPts val="600"/>
              </a:spcAft>
              <a:defRPr sz="1400"/>
            </a:pPr>
            <a:r>
              <a:t>• Input sanitization prevents injection attacks</a:t>
            </a:r>
          </a:p>
          <a:p>
            <a:pPr>
              <a:spcAft>
                <a:spcPts val="600"/>
              </a:spcAft>
              <a:defRPr sz="1400"/>
            </a:pPr>
            <a:r>
              <a:t>Query Types:</a:t>
            </a:r>
          </a:p>
          <a:p>
            <a:pPr>
              <a:spcAft>
                <a:spcPts val="600"/>
              </a:spcAft>
              <a:defRPr sz="1400"/>
            </a:pPr>
            <a:r>
              <a:t>1. List Insurance Query - Filters by salary, age, family</a:t>
            </a:r>
          </a:p>
          <a:p>
            <a:pPr>
              <a:spcAft>
                <a:spcPts val="600"/>
              </a:spcAft>
              <a:defRPr sz="1400"/>
            </a:pPr>
            <a:r>
              <a:t>2. Suggestion Query - Optimized for scoring algorithm</a:t>
            </a:r>
          </a:p>
          <a:p>
            <a:pPr>
              <a:spcAft>
                <a:spcPts val="600"/>
              </a:spcAft>
              <a:defRPr sz="1400"/>
            </a:pPr>
            <a:r>
              <a:t>3. Booking Queries - User lookup, plan lookup, status filtering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Cache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Cache Implementation:</a:t>
            </a:r>
          </a:p>
          <a:p>
            <a:pPr>
              <a:spcAft>
                <a:spcPts val="600"/>
              </a:spcAft>
              <a:defRPr sz="1400"/>
            </a:pPr>
            <a:r>
              <a:t>• Type: In-memory Map-based cache</a:t>
            </a:r>
          </a:p>
          <a:p>
            <a:pPr>
              <a:spcAft>
                <a:spcPts val="600"/>
              </a:spcAft>
              <a:defRPr sz="1400"/>
            </a:pPr>
            <a:r>
              <a:t>• Pattern: Singleton service</a:t>
            </a:r>
          </a:p>
          <a:p>
            <a:pPr>
              <a:spcAft>
                <a:spcPts val="600"/>
              </a:spcAft>
              <a:defRPr sz="1400"/>
            </a:pPr>
            <a:r>
              <a:t>• Storage: JavaScript Map</a:t>
            </a:r>
          </a:p>
          <a:p>
            <a:pPr>
              <a:spcAft>
                <a:spcPts val="600"/>
              </a:spcAft>
              <a:defRPr sz="1400"/>
            </a:pPr>
            <a:r>
              <a:t>• TTL: Configurable per entry, default 5 minutes</a:t>
            </a:r>
          </a:p>
          <a:p>
            <a:pPr>
              <a:spcAft>
                <a:spcPts val="600"/>
              </a:spcAft>
              <a:defRPr sz="1400"/>
            </a:pPr>
            <a:r>
              <a:t>Cache Operations:</a:t>
            </a:r>
          </a:p>
          <a:p>
            <a:pPr>
              <a:spcAft>
                <a:spcPts val="600"/>
              </a:spcAft>
              <a:defRPr sz="1400"/>
            </a:pPr>
            <a:r>
              <a:t>• get(key) - Retrieve cached value</a:t>
            </a:r>
          </a:p>
          <a:p>
            <a:pPr>
              <a:spcAft>
                <a:spcPts val="600"/>
              </a:spcAft>
              <a:defRPr sz="1400"/>
            </a:pPr>
            <a:r>
              <a:t>• set(key, value, ttl?) - Store value</a:t>
            </a:r>
          </a:p>
          <a:p>
            <a:pPr>
              <a:spcAft>
                <a:spcPts val="600"/>
              </a:spcAft>
              <a:defRPr sz="1400"/>
            </a:pPr>
            <a:r>
              <a:t>• getOrCompute(key, computeFn, ttl?) - Cache or compute</a:t>
            </a:r>
          </a:p>
          <a:p>
            <a:pPr>
              <a:spcAft>
                <a:spcPts val="600"/>
              </a:spcAft>
              <a:defRPr sz="1400"/>
            </a:pPr>
            <a:r>
              <a:t>• delete(key) - Remove entry</a:t>
            </a:r>
          </a:p>
          <a:p>
            <a:pPr>
              <a:spcAft>
                <a:spcPts val="600"/>
              </a:spcAft>
              <a:defRPr sz="1400"/>
            </a:pPr>
            <a:r>
              <a:t>• clear() - Remove all entries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Cache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Cache TTL by Operation:</a:t>
            </a:r>
          </a:p>
          <a:p>
            <a:pPr>
              <a:spcAft>
                <a:spcPts val="600"/>
              </a:spcAft>
              <a:defRPr sz="1400"/>
            </a:pPr>
            <a:r>
              <a:t>• list_insurance: 5 minutes</a:t>
            </a:r>
          </a:p>
          <a:p>
            <a:pPr>
              <a:spcAft>
                <a:spcPts val="600"/>
              </a:spcAft>
              <a:defRPr sz="1400"/>
            </a:pPr>
            <a:r>
              <a:t>• suggest_insurance_plan: 5 minutes</a:t>
            </a:r>
          </a:p>
          <a:p>
            <a:pPr>
              <a:spcAft>
                <a:spcPts val="600"/>
              </a:spcAft>
              <a:defRPr sz="1400"/>
            </a:pPr>
            <a:r>
              <a:t>• search_insurance_names: 2 minutes</a:t>
            </a:r>
          </a:p>
          <a:p>
            <a:pPr>
              <a:spcAft>
                <a:spcPts val="600"/>
              </a:spcAft>
              <a:defRPr sz="1400"/>
            </a:pPr>
            <a:r>
              <a:t>Cache Key Generation:</a:t>
            </a:r>
          </a:p>
          <a:p>
            <a:pPr>
              <a:spcAft>
                <a:spcPts val="600"/>
              </a:spcAft>
              <a:defRPr sz="1400"/>
            </a:pPr>
            <a:r>
              <a:t>• Deterministic from input parameters</a:t>
            </a:r>
          </a:p>
          <a:p>
            <a:pPr>
              <a:spcAft>
                <a:spcPts val="600"/>
              </a:spcAft>
              <a:defRPr sz="1400"/>
            </a:pPr>
            <a:r>
              <a:t>• Parameters sorted alphabetically</a:t>
            </a:r>
          </a:p>
          <a:p>
            <a:pPr>
              <a:spcAft>
                <a:spcPts val="600"/>
              </a:spcAft>
              <a:defRPr sz="1400"/>
            </a:pPr>
            <a:r>
              <a:t>• Values JSON stringified</a:t>
            </a:r>
          </a:p>
          <a:p>
            <a:pPr>
              <a:spcAft>
                <a:spcPts val="600"/>
              </a:spcAft>
              <a:defRPr sz="1400"/>
            </a:pPr>
            <a:r>
              <a:t>• Format: 'prefix:param1:value1|param2:value2|...'</a:t>
            </a:r>
          </a:p>
          <a:p>
            <a:pPr>
              <a:spcAft>
                <a:spcPts val="600"/>
              </a:spcAft>
              <a:defRPr sz="1400"/>
            </a:pPr>
            <a:r>
              <a:t>Cache Cleanup:</a:t>
            </a:r>
          </a:p>
          <a:p>
            <a:pPr>
              <a:spcAft>
                <a:spcPts val="600"/>
              </a:spcAft>
              <a:defRPr sz="1400"/>
            </a:pPr>
            <a:r>
              <a:t>• Automatic cleanup every 60 seconds</a:t>
            </a:r>
          </a:p>
          <a:p>
            <a:pPr>
              <a:spcAft>
                <a:spcPts val="600"/>
              </a:spcAft>
              <a:defRPr sz="1400"/>
            </a:pPr>
            <a:r>
              <a:t>• Lazy expiration on get() operations</a:t>
            </a:r>
          </a:p>
          <a:p>
            <a:pPr>
              <a:spcAft>
                <a:spcPts val="600"/>
              </a:spcAft>
              <a:defRPr sz="1400"/>
            </a:pPr>
            <a:r>
              <a:t>• Removes expired entries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Cache Benefits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Cache Benefits:</a:t>
            </a:r>
          </a:p>
          <a:p>
            <a:pPr>
              <a:spcAft>
                <a:spcPts val="600"/>
              </a:spcAft>
              <a:defRPr sz="1400"/>
            </a:pPr>
            <a:r>
              <a:t>• Performance: Reduces database queries by 60-80%</a:t>
            </a:r>
          </a:p>
          <a:p>
            <a:pPr>
              <a:spcAft>
                <a:spcPts val="600"/>
              </a:spcAft>
              <a:defRPr sz="1400"/>
            </a:pPr>
            <a:r>
              <a:t>• Latency: Cache hits return in &lt;1ms vs 10-50ms for DB queries</a:t>
            </a:r>
          </a:p>
          <a:p>
            <a:pPr>
              <a:spcAft>
                <a:spcPts val="600"/>
              </a:spcAft>
              <a:defRPr sz="1400"/>
            </a:pPr>
            <a:r>
              <a:t>• Database Load: Significantly reduces load on MongoDB</a:t>
            </a:r>
          </a:p>
          <a:p>
            <a:pPr>
              <a:spcAft>
                <a:spcPts val="600"/>
              </a:spcAft>
              <a:defRPr sz="1400"/>
            </a:pPr>
            <a:r>
              <a:t>• Cost: Lower database operation costs</a:t>
            </a:r>
          </a:p>
          <a:p>
            <a:pPr>
              <a:spcAft>
                <a:spcPts val="600"/>
              </a:spcAft>
              <a:defRPr sz="1400"/>
            </a:pPr>
            <a:r>
              <a:t>Cache Flow:</a:t>
            </a:r>
          </a:p>
          <a:p>
            <a:pPr>
              <a:spcAft>
                <a:spcPts val="600"/>
              </a:spcAft>
              <a:defRPr sz="1400"/>
            </a:pPr>
            <a:r>
              <a:t>1. Request received with parameters</a:t>
            </a:r>
          </a:p>
          <a:p>
            <a:pPr>
              <a:spcAft>
                <a:spcPts val="600"/>
              </a:spcAft>
              <a:defRPr sz="1400"/>
            </a:pPr>
            <a:r>
              <a:t>2. Generate deterministic cache key</a:t>
            </a:r>
          </a:p>
          <a:p>
            <a:pPr>
              <a:spcAft>
                <a:spcPts val="600"/>
              </a:spcAft>
              <a:defRPr sz="1400"/>
            </a:pPr>
            <a:r>
              <a:t>3. Check cache for existing entry</a:t>
            </a:r>
          </a:p>
          <a:p>
            <a:pPr>
              <a:spcAft>
                <a:spcPts val="600"/>
              </a:spcAft>
              <a:defRPr sz="1400"/>
            </a:pPr>
            <a:r>
              <a:t>4. If cache hit and not expired, return cached data</a:t>
            </a:r>
          </a:p>
          <a:p>
            <a:pPr>
              <a:spcAft>
                <a:spcPts val="600"/>
              </a:spcAft>
              <a:defRPr sz="1400"/>
            </a:pPr>
            <a:r>
              <a:t>5. If cache miss, execute database query</a:t>
            </a:r>
          </a:p>
          <a:p>
            <a:pPr>
              <a:spcAft>
                <a:spcPts val="600"/>
              </a:spcAft>
              <a:defRPr sz="1400"/>
            </a:pPr>
            <a:r>
              <a:t>6. Store result in cache with TTL</a:t>
            </a:r>
          </a:p>
          <a:p>
            <a:pPr>
              <a:spcAft>
                <a:spcPts val="600"/>
              </a:spcAft>
              <a:defRPr sz="1400"/>
            </a:pPr>
            <a:r>
              <a:t>7. Return result to caller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System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System Initialization:</a:t>
            </a:r>
          </a:p>
          <a:p>
            <a:pPr>
              <a:spcAft>
                <a:spcPts val="600"/>
              </a:spcAft>
              <a:defRPr sz="1400"/>
            </a:pPr>
            <a:r>
              <a:t>1. Application Start - NitroStack CLI starts MCP server</a:t>
            </a:r>
          </a:p>
          <a:p>
            <a:pPr>
              <a:spcAft>
                <a:spcPts val="600"/>
              </a:spcAft>
              <a:defRPr sz="1400"/>
            </a:pPr>
            <a:r>
              <a:t>2. Module Loading - AppModule loads InsuranceModule</a:t>
            </a:r>
          </a:p>
          <a:p>
            <a:pPr>
              <a:spcAft>
                <a:spcPts val="600"/>
              </a:spcAft>
              <a:defRPr sz="1400"/>
            </a:pPr>
            <a:r>
              <a:t>3. MongoDB Initialization - Connection established</a:t>
            </a:r>
          </a:p>
          <a:p>
            <a:pPr>
              <a:spcAft>
                <a:spcPts val="600"/>
              </a:spcAft>
              <a:defRPr sz="1400"/>
            </a:pPr>
            <a:r>
              <a:t>4. Connection Pooling - Pool created (min: 2, max: 10)</a:t>
            </a:r>
          </a:p>
          <a:p>
            <a:pPr>
              <a:spcAft>
                <a:spcPts val="600"/>
              </a:spcAft>
              <a:defRPr sz="1400"/>
            </a:pPr>
            <a:r>
              <a:t>5. Index Creation - Automatic index creation for collections</a:t>
            </a:r>
          </a:p>
          <a:p>
            <a:pPr>
              <a:spcAft>
                <a:spcPts val="600"/>
              </a:spcAft>
              <a:defRPr sz="1400"/>
            </a:pPr>
            <a:r>
              <a:t>6. Service Initialization - CacheService, MetricsService as singletons</a:t>
            </a:r>
          </a:p>
          <a:p>
            <a:pPr>
              <a:spcAft>
                <a:spcPts val="600"/>
              </a:spcAft>
              <a:defRPr sz="1400"/>
            </a:pPr>
            <a:r>
              <a:t>7. Health Check Start - Monitoring every 30 seconds</a:t>
            </a:r>
          </a:p>
          <a:p>
            <a:pPr>
              <a:spcAft>
                <a:spcPts val="600"/>
              </a:spcAft>
              <a:defRPr sz="1400"/>
            </a:pPr>
            <a:r>
              <a:t>8. Ready State - Server ready to accept requests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Request Processing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Request Processing Flow:</a:t>
            </a:r>
          </a:p>
          <a:p>
            <a:pPr>
              <a:spcAft>
                <a:spcPts val="600"/>
              </a:spcAft>
              <a:defRPr sz="1400"/>
            </a:pPr>
            <a:r>
              <a:t>1. Request Received - MCP server receives tool invocation</a:t>
            </a:r>
          </a:p>
          <a:p>
            <a:pPr>
              <a:spcAft>
                <a:spcPts val="600"/>
              </a:spcAft>
              <a:defRPr sz="1400"/>
            </a:pPr>
            <a:r>
              <a:t>2. Input Validation - Zod schema validates parameters</a:t>
            </a:r>
          </a:p>
          <a:p>
            <a:pPr>
              <a:spcAft>
                <a:spcPts val="600"/>
              </a:spcAft>
              <a:defRPr sz="1400"/>
            </a:pPr>
            <a:r>
              <a:t>3. Input Sanitization - InputSanitizer sanitizes inputs</a:t>
            </a:r>
          </a:p>
          <a:p>
            <a:pPr>
              <a:spcAft>
                <a:spcPts val="600"/>
              </a:spcAft>
              <a:defRPr sz="1400"/>
            </a:pPr>
            <a:r>
              <a:t>4. Cache Check - CacheService checks for cached result</a:t>
            </a:r>
          </a:p>
          <a:p>
            <a:pPr>
              <a:spcAft>
                <a:spcPts val="600"/>
              </a:spcAft>
              <a:defRPr sz="1400"/>
            </a:pPr>
            <a:r>
              <a:t>5. Query Building - InsuranceQueryBuilderService builds query</a:t>
            </a:r>
          </a:p>
          <a:p>
            <a:pPr>
              <a:spcAft>
                <a:spcPts val="600"/>
              </a:spcAft>
              <a:defRPr sz="1400"/>
            </a:pPr>
            <a:r>
              <a:t>6. Database Query - MongoDBService executes using indexes</a:t>
            </a:r>
          </a:p>
          <a:p>
            <a:pPr>
              <a:spcAft>
                <a:spcPts val="600"/>
              </a:spcAft>
              <a:defRPr sz="1400"/>
            </a:pPr>
            <a:r>
              <a:t>7. Data Processing - Results processed (scoring, formatting)</a:t>
            </a:r>
          </a:p>
          <a:p>
            <a:pPr>
              <a:spcAft>
                <a:spcPts val="600"/>
              </a:spcAft>
              <a:defRPr sz="1400"/>
            </a:pPr>
            <a:r>
              <a:t>8. Cache Storage - Result stored in cache with TTL</a:t>
            </a:r>
          </a:p>
          <a:p>
            <a:pPr>
              <a:spcAft>
                <a:spcPts val="600"/>
              </a:spcAft>
              <a:defRPr sz="1400"/>
            </a:pPr>
            <a:r>
              <a:t>9. Metrics Recording - MetricsService records operation</a:t>
            </a:r>
          </a:p>
          <a:p>
            <a:pPr>
              <a:spcAft>
                <a:spcPts val="600"/>
              </a:spcAft>
              <a:defRPr sz="1400"/>
            </a:pPr>
            <a:r>
              <a:t>10. Response Return - Formatted response returned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Error Handling:</a:t>
            </a:r>
          </a:p>
          <a:p>
            <a:pPr>
              <a:spcAft>
                <a:spcPts val="600"/>
              </a:spcAft>
              <a:defRPr sz="1400"/>
            </a:pPr>
            <a:r>
              <a:t>• Custom Error Classes with codes and context</a:t>
            </a:r>
          </a:p>
          <a:p>
            <a:pPr>
              <a:spcAft>
                <a:spcPts val="600"/>
              </a:spcAft>
              <a:defRPr sz="1400"/>
            </a:pPr>
            <a:r>
              <a:t>• Error Types:</a:t>
            </a:r>
          </a:p>
          <a:p>
            <a:pPr>
              <a:spcAft>
                <a:spcPts val="600"/>
              </a:spcAft>
              <a:defRPr sz="1400"/>
            </a:pPr>
            <a:r>
              <a:t>- DatabaseConnectionError - Connection failures</a:t>
            </a:r>
          </a:p>
          <a:p>
            <a:pPr>
              <a:spcAft>
                <a:spcPts val="600"/>
              </a:spcAft>
              <a:defRPr sz="1400"/>
            </a:pPr>
            <a:r>
              <a:t>- DatabaseQueryError - Query execution failures</a:t>
            </a:r>
          </a:p>
          <a:p>
            <a:pPr>
              <a:spcAft>
                <a:spcPts val="600"/>
              </a:spcAft>
              <a:defRPr sz="1400"/>
            </a:pPr>
            <a:r>
              <a:t>- InvalidInputError - Input validation failures</a:t>
            </a:r>
          </a:p>
          <a:p>
            <a:pPr>
              <a:spcAft>
                <a:spcPts val="600"/>
              </a:spcAft>
              <a:defRPr sz="1400"/>
            </a:pPr>
            <a:r>
              <a:t>- ConfigurationError - Configuration issues</a:t>
            </a:r>
          </a:p>
          <a:p>
            <a:pPr>
              <a:spcAft>
                <a:spcPts val="600"/>
              </a:spcAft>
              <a:defRPr sz="1400"/>
            </a:pPr>
            <a:r>
              <a:t>Retry Logic:</a:t>
            </a:r>
          </a:p>
          <a:p>
            <a:pPr>
              <a:spcAft>
                <a:spcPts val="600"/>
              </a:spcAft>
              <a:defRPr sz="1400"/>
            </a:pPr>
            <a:r>
              <a:t>• Automatic reconnection with exponential backoff</a:t>
            </a:r>
          </a:p>
          <a:p>
            <a:pPr>
              <a:spcAft>
                <a:spcPts val="600"/>
              </a:spcAft>
              <a:defRPr sz="1400"/>
            </a:pPr>
            <a:r>
              <a:t>• Maximum 5 retry attempts</a:t>
            </a:r>
          </a:p>
          <a:p>
            <a:pPr>
              <a:spcAft>
                <a:spcPts val="600"/>
              </a:spcAft>
              <a:defRPr sz="1400"/>
            </a:pPr>
            <a:r>
              <a:t>• All errors tracked in MetricsService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Performance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Performance Optimizations:</a:t>
            </a:r>
          </a:p>
          <a:p>
            <a:pPr>
              <a:spcAft>
                <a:spcPts val="600"/>
              </a:spcAft>
              <a:defRPr sz="1400"/>
            </a:pPr>
            <a:r>
              <a:t>• Database Indexes: 20+ indexes across collections</a:t>
            </a:r>
          </a:p>
          <a:p>
            <a:pPr>
              <a:spcAft>
                <a:spcPts val="600"/>
              </a:spcAft>
              <a:defRPr sz="1400"/>
            </a:pPr>
            <a:r>
              <a:t>• Connection Pooling: Reuses connections (2-10)</a:t>
            </a:r>
          </a:p>
          <a:p>
            <a:pPr>
              <a:spcAft>
                <a:spcPts val="600"/>
              </a:spcAft>
              <a:defRPr sz="1400"/>
            </a:pPr>
            <a:r>
              <a:t>• Caching: In-memory cache reduces database load</a:t>
            </a:r>
          </a:p>
          <a:p>
            <a:pPr>
              <a:spcAft>
                <a:spcPts val="600"/>
              </a:spcAft>
              <a:defRPr sz="1400"/>
            </a:pPr>
            <a:r>
              <a:t>• Query Optimization: Filters at database level</a:t>
            </a:r>
          </a:p>
          <a:p>
            <a:pPr>
              <a:spcAft>
                <a:spcPts val="600"/>
              </a:spcAft>
              <a:defRPr sz="1400"/>
            </a:pPr>
            <a:r>
              <a:t>• Pagination: Efficient data retrieval with skip/limit</a:t>
            </a:r>
          </a:p>
          <a:p>
            <a:pPr>
              <a:spcAft>
                <a:spcPts val="600"/>
              </a:spcAft>
              <a:defRPr sz="1400"/>
            </a:pPr>
            <a:r>
              <a:t>• Lazy Loading: Collections initialized when needed</a:t>
            </a:r>
          </a:p>
          <a:p>
            <a:pPr>
              <a:spcAft>
                <a:spcPts val="600"/>
              </a:spcAft>
              <a:defRPr sz="1400"/>
            </a:pPr>
            <a:r>
              <a:t>Monitoring &amp; Metrics:</a:t>
            </a:r>
          </a:p>
          <a:p>
            <a:pPr>
              <a:spcAft>
                <a:spcPts val="600"/>
              </a:spcAft>
              <a:defRPr sz="1400"/>
            </a:pPr>
            <a:r>
              <a:t>• MetricsService tracks: operation count, avg/min/max times</a:t>
            </a:r>
          </a:p>
          <a:p>
            <a:pPr>
              <a:spcAft>
                <a:spcPts val="600"/>
              </a:spcAft>
              <a:defRPr sz="1400"/>
            </a:pPr>
            <a:r>
              <a:t>• Error count and success rate percentage</a:t>
            </a:r>
          </a:p>
          <a:p>
            <a:pPr>
              <a:spcAft>
                <a:spcPts val="600"/>
              </a:spcAft>
              <a:defRPr sz="1400"/>
            </a:pPr>
            <a:r>
              <a:t>• Health Checks: MongoDB connection status, ping every 30s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Security Features:</a:t>
            </a:r>
          </a:p>
          <a:p>
            <a:pPr>
              <a:spcAft>
                <a:spcPts val="600"/>
              </a:spcAft>
              <a:defRPr sz="1400"/>
            </a:pPr>
            <a:r>
              <a:t>• Input Sanitization:</a:t>
            </a:r>
          </a:p>
          <a:p>
            <a:pPr>
              <a:spcAft>
                <a:spcPts val="600"/>
              </a:spcAft>
              <a:defRPr sz="1400"/>
            </a:pPr>
            <a:r>
              <a:t>- Regex injection prevention</a:t>
            </a:r>
          </a:p>
          <a:p>
            <a:pPr>
              <a:spcAft>
                <a:spcPts val="600"/>
              </a:spcAft>
              <a:defRPr sz="1400"/>
            </a:pPr>
            <a:r>
              <a:t>- String sanitization</a:t>
            </a:r>
          </a:p>
          <a:p>
            <a:pPr>
              <a:spcAft>
                <a:spcPts val="600"/>
              </a:spcAft>
              <a:defRPr sz="1400"/>
            </a:pPr>
            <a:r>
              <a:t>- Number validation</a:t>
            </a:r>
          </a:p>
          <a:p>
            <a:pPr>
              <a:spcAft>
                <a:spcPts val="600"/>
              </a:spcAft>
              <a:defRPr sz="1400"/>
            </a:pPr>
            <a:r>
              <a:t>- Filter object sanitization</a:t>
            </a:r>
          </a:p>
          <a:p>
            <a:pPr>
              <a:spcAft>
                <a:spcPts val="600"/>
              </a:spcAft>
              <a:defRPr sz="1400"/>
            </a:pPr>
            <a:r>
              <a:t>• Type Validation:</a:t>
            </a:r>
          </a:p>
          <a:p>
            <a:pPr>
              <a:spcAft>
                <a:spcPts val="600"/>
              </a:spcAft>
              <a:defRPr sz="1400"/>
            </a:pPr>
            <a:r>
              <a:t>- Zod schemas validate all inputs</a:t>
            </a:r>
          </a:p>
          <a:p>
            <a:pPr>
              <a:spcAft>
                <a:spcPts val="600"/>
              </a:spcAft>
              <a:defRPr sz="1400"/>
            </a:pPr>
            <a:r>
              <a:t>• MongoDB Injection Prevention:</a:t>
            </a:r>
          </a:p>
          <a:p>
            <a:pPr>
              <a:spcAft>
                <a:spcPts val="600"/>
              </a:spcAft>
              <a:defRPr sz="1400"/>
            </a:pPr>
            <a:r>
              <a:t>- Filter objects sanitized before query</a:t>
            </a:r>
          </a:p>
          <a:p>
            <a:pPr>
              <a:spcAft>
                <a:spcPts val="600"/>
              </a:spcAft>
              <a:defRPr sz="1400"/>
            </a:pPr>
            <a:r>
              <a:t>• Email Validation:</a:t>
            </a:r>
          </a:p>
          <a:p>
            <a:pPr>
              <a:spcAft>
                <a:spcPts val="600"/>
              </a:spcAft>
              <a:defRPr sz="1400"/>
            </a:pPr>
            <a:r>
              <a:t>- Regex validation for email format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Core Services:</a:t>
            </a:r>
          </a:p>
          <a:p>
            <a:pPr>
              <a:spcAft>
                <a:spcPts val="600"/>
              </a:spcAft>
              <a:defRPr sz="1400"/>
            </a:pPr>
            <a:r>
              <a:t>• MongoDBService - Database connection, pooling, indexes (Singleton)</a:t>
            </a:r>
          </a:p>
          <a:p>
            <a:pPr>
              <a:spcAft>
                <a:spcPts val="600"/>
              </a:spcAft>
              <a:defRPr sz="1400"/>
            </a:pPr>
            <a:r>
              <a:t>• CacheService - In-memory caching with TTL (Singleton)</a:t>
            </a:r>
          </a:p>
          <a:p>
            <a:pPr>
              <a:spcAft>
                <a:spcPts val="600"/>
              </a:spcAft>
              <a:defRPr sz="1400"/>
            </a:pPr>
            <a:r>
              <a:t>• MetricsService - Operation tracking, monitoring (Singleton)</a:t>
            </a:r>
          </a:p>
          <a:p>
            <a:pPr>
              <a:spcAft>
                <a:spcPts val="600"/>
              </a:spcAft>
              <a:defRPr sz="1400"/>
            </a:pPr>
            <a:r>
              <a:t>• InsuranceQueryBuilderService - MongoDB query construction</a:t>
            </a:r>
          </a:p>
          <a:p>
            <a:pPr>
              <a:spcAft>
                <a:spcPts val="600"/>
              </a:spcAft>
              <a:defRPr sz="1400"/>
            </a:pPr>
            <a:r>
              <a:t>• InsuranceScoringService - Match score calculation</a:t>
            </a:r>
          </a:p>
          <a:p>
            <a:pPr>
              <a:spcAft>
                <a:spcPts val="600"/>
              </a:spcAft>
              <a:defRPr sz="1400"/>
            </a:pPr>
            <a:r>
              <a:t>• InsuranceRecommendationService - Recommendation generation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Configuration:</a:t>
            </a:r>
          </a:p>
          <a:p>
            <a:pPr>
              <a:spcAft>
                <a:spcPts val="600"/>
              </a:spcAft>
              <a:defRPr sz="1400"/>
            </a:pPr>
            <a:r>
              <a:t>• InsuranceConfig: Environment variable management with Zod</a:t>
            </a:r>
          </a:p>
          <a:p>
            <a:pPr>
              <a:spcAft>
                <a:spcPts val="600"/>
              </a:spcAft>
              <a:defRPr sz="1400"/>
            </a:pPr>
            <a:r>
              <a:t>Environment Variables:</a:t>
            </a:r>
          </a:p>
          <a:p>
            <a:pPr>
              <a:spcAft>
                <a:spcPts val="600"/>
              </a:spcAft>
              <a:defRPr sz="1400"/>
            </a:pPr>
            <a:r>
              <a:t>• MONGODB_URI - MongoDB connection string</a:t>
            </a:r>
          </a:p>
          <a:p>
            <a:pPr>
              <a:spcAft>
                <a:spcPts val="600"/>
              </a:spcAft>
              <a:defRPr sz="1400"/>
            </a:pPr>
            <a:r>
              <a:t>• MONGODB_DATABASE_NAME - Database name (default: 'Insurance')</a:t>
            </a:r>
          </a:p>
          <a:p>
            <a:pPr>
              <a:spcAft>
                <a:spcPts val="600"/>
              </a:spcAft>
              <a:defRPr sz="1400"/>
            </a:pPr>
            <a:r>
              <a:t>• MONGODB_COLLECTION_NAME - Collection name (default: 'Insurance')</a:t>
            </a:r>
          </a:p>
          <a:p>
            <a:pPr>
              <a:spcAft>
                <a:spcPts val="600"/>
              </a:spcAft>
              <a:defRPr sz="1400"/>
            </a:pPr>
            <a:r>
              <a:t>• MONGODB_MAX_POOL_SIZE - Max connections (default: 10)</a:t>
            </a:r>
          </a:p>
          <a:p>
            <a:pPr>
              <a:spcAft>
                <a:spcPts val="600"/>
              </a:spcAft>
              <a:defRPr sz="1400"/>
            </a:pPr>
            <a:r>
              <a:t>• MONGODB_MIN_POOL_SIZE - Min connections (default: 2)</a:t>
            </a:r>
          </a:p>
          <a:p>
            <a:pPr>
              <a:spcAft>
                <a:spcPts val="600"/>
              </a:spcAft>
              <a:defRPr sz="1400"/>
            </a:pPr>
            <a:r>
              <a:t>• MONGODB_CONNECT_TIMEOUT_MS - Connection timeout (default: 30000)</a:t>
            </a:r>
          </a:p>
          <a:p>
            <a:pPr>
              <a:spcAft>
                <a:spcPts val="600"/>
              </a:spcAft>
              <a:defRPr sz="1400"/>
            </a:pPr>
            <a:r>
              <a:t>• MONGODB_SERVER_SELECTION_TIMEOUT_MS - Server selection timeout (default: 5000)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Utilities:</a:t>
            </a:r>
          </a:p>
          <a:p>
            <a:pPr>
              <a:spcAft>
                <a:spcPts val="600"/>
              </a:spcAft>
              <a:defRPr sz="1400"/>
            </a:pPr>
            <a:r>
              <a:t>• InputSanitizer - Sanitizes strings, numbers, arrays, filter objects</a:t>
            </a:r>
          </a:p>
          <a:p>
            <a:pPr>
              <a:spcAft>
                <a:spcPts val="600"/>
              </a:spcAft>
              <a:defRPr sz="1400"/>
            </a:pPr>
            <a:r>
              <a:t>• ObjectIdUtil - Converts MongoDB ObjectIds to strings for JSON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Widgets (UI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Widgets (UI Components):</a:t>
            </a:r>
          </a:p>
          <a:p>
            <a:pPr>
              <a:spcAft>
                <a:spcPts val="600"/>
              </a:spcAft>
              <a:defRPr sz="1400"/>
            </a:pPr>
            <a:r>
              <a:t>Next.js-based React widgets for displaying tool results:</a:t>
            </a:r>
          </a:p>
          <a:p>
            <a:pPr>
              <a:spcAft>
                <a:spcPts val="600"/>
              </a:spcAft>
              <a:defRPr sz="1400"/>
            </a:pPr>
            <a:r>
              <a:t>• insurance-list - Displays list of insurance plans</a:t>
            </a:r>
          </a:p>
          <a:p>
            <a:pPr>
              <a:spcAft>
                <a:spcPts val="600"/>
              </a:spcAft>
              <a:defRPr sz="1400"/>
            </a:pPr>
            <a:r>
              <a:t>• insurance-suggestion - Shows suggested plans with scores</a:t>
            </a:r>
          </a:p>
          <a:p>
            <a:pPr>
              <a:spcAft>
                <a:spcPts val="600"/>
              </a:spcAft>
              <a:defRPr sz="1400"/>
            </a:pPr>
            <a:r>
              <a:t>• insurance-booking - Booking confirmation interface</a:t>
            </a:r>
          </a:p>
          <a:p>
            <a:pPr>
              <a:spcAft>
                <a:spcPts val="600"/>
              </a:spcAft>
              <a:defRPr sz="1400"/>
            </a:pPr>
            <a:r>
              <a:t>• booking-status-list - User booking history with status cards</a:t>
            </a:r>
          </a:p>
          <a:p>
            <a:pPr>
              <a:spcAft>
                <a:spcPts val="600"/>
              </a:spcAft>
              <a:defRPr sz="1400"/>
            </a:pPr>
            <a:r>
              <a:t>• calculator-result - Calculator tool result display</a:t>
            </a:r>
          </a:p>
          <a:p>
            <a:pPr>
              <a:spcAft>
                <a:spcPts val="600"/>
              </a:spcAft>
              <a:defRPr sz="1400"/>
            </a:pPr>
            <a:r>
              <a:t>• insurance-search-dropdown - Search dropdown component</a:t>
            </a:r>
          </a:p>
          <a:p>
            <a:pPr>
              <a:spcAft>
                <a:spcPts val="600"/>
              </a:spcAft>
              <a:defRPr sz="1400"/>
            </a:pPr>
            <a:r>
              <a:t>Widget Development:</a:t>
            </a:r>
          </a:p>
          <a:p>
            <a:pPr>
              <a:spcAft>
                <a:spcPts val="600"/>
              </a:spcAft>
              <a:defRPr sz="1400"/>
            </a:pPr>
            <a:r>
              <a:t>• Hot module replacement enabled for development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64BA2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400"/>
            </a:pPr>
            <a:r>
              <a:t>Key Highlights:</a:t>
            </a:r>
          </a:p>
          <a:p>
            <a:pPr>
              <a:spcAft>
                <a:spcPts val="600"/>
              </a:spcAft>
              <a:defRPr sz="1400"/>
            </a:pPr>
            <a:r>
              <a:t>• Modern Tech Stack: Node.js, TypeScript, MongoDB, Next.js</a:t>
            </a:r>
          </a:p>
          <a:p>
            <a:pPr>
              <a:spcAft>
                <a:spcPts val="600"/>
              </a:spcAft>
              <a:defRPr sz="1400"/>
            </a:pPr>
            <a:r>
              <a:t>• 5-Layer Architecture with clear separation of concerns</a:t>
            </a:r>
          </a:p>
          <a:p>
            <a:pPr>
              <a:spcAft>
                <a:spcPts val="600"/>
              </a:spcAft>
              <a:defRPr sz="1400"/>
            </a:pPr>
            <a:r>
              <a:t>• 3 MongoDB Collections with optimized indexes</a:t>
            </a:r>
          </a:p>
          <a:p>
            <a:pPr>
              <a:spcAft>
                <a:spcPts val="600"/>
              </a:spcAft>
              <a:defRPr sz="1400"/>
            </a:pPr>
            <a:r>
              <a:t>• 4 Main Tools for insurance management</a:t>
            </a:r>
          </a:p>
          <a:p>
            <a:pPr>
              <a:spcAft>
                <a:spcPts val="600"/>
              </a:spcAft>
              <a:defRPr sz="1400"/>
            </a:pPr>
            <a:r>
              <a:t>• Intelligent Caching System (60-80% query reduction)</a:t>
            </a:r>
          </a:p>
          <a:p>
            <a:pPr>
              <a:spcAft>
                <a:spcPts val="600"/>
              </a:spcAft>
              <a:defRPr sz="1400"/>
            </a:pPr>
            <a:r>
              <a:t>• Comprehensive Error Handling &amp; Retry Logic</a:t>
            </a:r>
          </a:p>
          <a:p>
            <a:pPr>
              <a:spcAft>
                <a:spcPts val="600"/>
              </a:spcAft>
              <a:defRPr sz="1400"/>
            </a:pPr>
            <a:r>
              <a:t>• Performance Optimizations (20+ indexes, connection pooling)</a:t>
            </a:r>
          </a:p>
          <a:p>
            <a:pPr>
              <a:spcAft>
                <a:spcPts val="600"/>
              </a:spcAft>
              <a:defRPr sz="1400"/>
            </a:pPr>
            <a:r>
              <a:t>• Security Features (Input sanitization, injection prevention)</a:t>
            </a:r>
          </a:p>
          <a:p>
            <a:pPr>
              <a:spcAft>
                <a:spcPts val="600"/>
              </a:spcAft>
              <a:defRPr sz="1400"/>
            </a:pPr>
            <a:r>
              <a:t>• Monitoring &amp; Metrics for operational insights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764BA2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